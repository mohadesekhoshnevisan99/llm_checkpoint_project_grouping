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4fd785e44e49fb" /><Relationship Type="http://schemas.openxmlformats.org/officeDocument/2006/relationships/extended-properties" Target="/docProps/app.xml" Id="Re15841d4643b43aa" /><Relationship Type="http://schemas.openxmlformats.org/officeDocument/2006/relationships/officeDocument" Target="/ppt/presentation.xml" Id="R58c4289db88747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280ceaf8894393"/>
  </p:sldMasterIdLst>
  <p:notesMasterIdLst>
    <p:notesMasterId xmlns:r="http://schemas.openxmlformats.org/officeDocument/2006/relationships" r:id="Re7defff4a49f46fd"/>
  </p:notesMasterIdLst>
  <p:sldIdLst>
    <p:sldId xmlns:r="http://schemas.openxmlformats.org/officeDocument/2006/relationships" id="256" r:id="R786f38ba3a6844dc"/>
    <p:sldId xmlns:r="http://schemas.openxmlformats.org/officeDocument/2006/relationships" id="257" r:id="R9921e0c7d3a94cf8"/>
    <p:sldId xmlns:r="http://schemas.openxmlformats.org/officeDocument/2006/relationships" id="258" r:id="R6520d0c0dfc24e24"/>
    <p:sldId xmlns:r="http://schemas.openxmlformats.org/officeDocument/2006/relationships" id="259" r:id="R8044c8e527c94431"/>
    <p:sldId xmlns:r="http://schemas.openxmlformats.org/officeDocument/2006/relationships" id="260" r:id="R9ea852bf002b4d52"/>
    <p:sldId xmlns:r="http://schemas.openxmlformats.org/officeDocument/2006/relationships" id="261" r:id="R60499a6cea744c7d"/>
    <p:sldId xmlns:r="http://schemas.openxmlformats.org/officeDocument/2006/relationships" id="262" r:id="R1e04920058b342b3"/>
    <p:sldId xmlns:r="http://schemas.openxmlformats.org/officeDocument/2006/relationships" id="263" r:id="R5e184588becb49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1f8789f3824001" /><Relationship Type="http://schemas.openxmlformats.org/officeDocument/2006/relationships/slideMaster" Target="/ppt/slideMasters/slideMaster1.xml" Id="R9b280ceaf8894393" /><Relationship Type="http://schemas.openxmlformats.org/officeDocument/2006/relationships/notesMaster" Target="/ppt/notesMasters/notesMaster1.xml" Id="Re7defff4a49f46fd" /><Relationship Type="http://schemas.openxmlformats.org/officeDocument/2006/relationships/presProps" Target="/ppt/presProps.xml" Id="Re03889ef7e914e25" /><Relationship Type="http://schemas.openxmlformats.org/officeDocument/2006/relationships/tableStyles" Target="/ppt/tableStyles.xml" Id="R36e803adc6b34bcd" /><Relationship Type="http://schemas.openxmlformats.org/officeDocument/2006/relationships/slide" Target="/ppt/slides/slide1.xml" Id="R786f38ba3a6844dc" /><Relationship Type="http://schemas.openxmlformats.org/officeDocument/2006/relationships/slide" Target="/ppt/slides/slide2.xml" Id="R9921e0c7d3a94cf8" /><Relationship Type="http://schemas.openxmlformats.org/officeDocument/2006/relationships/slide" Target="/ppt/slides/slide3.xml" Id="R6520d0c0dfc24e24" /><Relationship Type="http://schemas.openxmlformats.org/officeDocument/2006/relationships/slide" Target="/ppt/slides/slide4.xml" Id="R8044c8e527c94431" /><Relationship Type="http://schemas.openxmlformats.org/officeDocument/2006/relationships/slide" Target="/ppt/slides/slide5.xml" Id="R9ea852bf002b4d52" /><Relationship Type="http://schemas.openxmlformats.org/officeDocument/2006/relationships/slide" Target="/ppt/slides/slide6.xml" Id="R60499a6cea744c7d" /><Relationship Type="http://schemas.openxmlformats.org/officeDocument/2006/relationships/slide" Target="/ppt/slides/slide7.xml" Id="R1e04920058b342b3" /><Relationship Type="http://schemas.openxmlformats.org/officeDocument/2006/relationships/slide" Target="/ppt/slides/slide8.xml" Id="R5e184588becb49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a859d4ca4c40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3056b34dd74dbe" /><Relationship Type="http://schemas.openxmlformats.org/officeDocument/2006/relationships/notesMaster" Target="/ppt/notesMasters/notesMaster1.xml" Id="R8176dec346ff4d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f5aa2126d40d0" /><Relationship Type="http://schemas.openxmlformats.org/officeDocument/2006/relationships/notesMaster" Target="/ppt/notesMasters/notesMaster1.xml" Id="R27cff380e9ec47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b31e326ff6444f" /><Relationship Type="http://schemas.openxmlformats.org/officeDocument/2006/relationships/notesMaster" Target="/ppt/notesMasters/notesMaster1.xml" Id="R6dc0cfa1f1ba49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7d6b6703ec4e4b" /><Relationship Type="http://schemas.openxmlformats.org/officeDocument/2006/relationships/notesMaster" Target="/ppt/notesMasters/notesMaster1.xml" Id="R1f05fdb72f29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764824f54f46ea" /><Relationship Type="http://schemas.openxmlformats.org/officeDocument/2006/relationships/notesMaster" Target="/ppt/notesMasters/notesMaster1.xml" Id="R1e63749ca6ea4f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b457fca36e4255" /><Relationship Type="http://schemas.openxmlformats.org/officeDocument/2006/relationships/notesMaster" Target="/ppt/notesMasters/notesMaster1.xml" Id="R6ac6260ddc294e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ff8a2561cd4162" /><Relationship Type="http://schemas.openxmlformats.org/officeDocument/2006/relationships/notesMaster" Target="/ppt/notesMasters/notesMaster1.xml" Id="Rd7d5a74e03b94f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44230fdea4b75" /><Relationship Type="http://schemas.openxmlformats.org/officeDocument/2006/relationships/notesMaster" Target="/ppt/notesMasters/notesMaster1.xml" Id="R40ff3e962aed44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presentation based on the grouped checkpoint optimizer and cross-job simulator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is global because jobs share bandwidth, storage, donor slots, and failure exposure.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contract prevents the optimizer from becoming a disconnected analytical exercise.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output contract is explicit and auditable. Peer donors remain inside the selected group.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experiment compares policy behavior rather than claiming a universal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final_validation results from the cross-job simulator. Means: no grouping 212.34s and 0 peer; phase 0 220.36s and 0.139 peer; phased 226.73s and 0.194 peer.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results are honest: the method improves peer utilization while exposing a contention trade-off in this small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evidence supports the method and its trade-off framing. Larger workloads are needed before making a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e8cb45cd54b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d12ea7d50f456c" /><Relationship Type="http://schemas.openxmlformats.org/officeDocument/2006/relationships/slideLayout" Target="/ppt/slideLayouts/slideLayout1.xml" Id="R2721032509504f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1032509504f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2a131d1ec408f" /><Relationship Type="http://schemas.openxmlformats.org/officeDocument/2006/relationships/notesSlide" Target="/ppt/notesSlides/notesSlide1.xml" Id="R5392b3d38a7f46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a0fbdf0b54a3d" /><Relationship Type="http://schemas.openxmlformats.org/officeDocument/2006/relationships/notesSlide" Target="/ppt/notesSlides/notesSlide2.xml" Id="Rdaa394f654de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7a195dcdf4c47" /><Relationship Type="http://schemas.openxmlformats.org/officeDocument/2006/relationships/notesSlide" Target="/ppt/notesSlides/notesSlide3.xml" Id="R58772827fb1642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4c99ef9f743d9" /><Relationship Type="http://schemas.openxmlformats.org/officeDocument/2006/relationships/notesSlide" Target="/ppt/notesSlides/notesSlide4.xml" Id="Rc16536ee68734b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49a4e7c6e49b3" /><Relationship Type="http://schemas.openxmlformats.org/officeDocument/2006/relationships/notesSlide" Target="/ppt/notesSlides/notesSlide5.xml" Id="Raea75f33a2e443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e3ef6233f4b0c" /><Relationship Type="http://schemas.openxmlformats.org/officeDocument/2006/relationships/notesSlide" Target="/ppt/notesSlides/notesSlide6.xml" Id="R1993e1651ac349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dd5c5936f4dd7" /><Relationship Type="http://schemas.openxmlformats.org/officeDocument/2006/relationships/notesSlide" Target="/ppt/notesSlides/notesSlide7.xml" Id="R2e75d3e1c5f8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f0b4cbe96400b" /><Relationship Type="http://schemas.openxmlformats.org/officeDocument/2006/relationships/notesSlide" Target="/ppt/notesSlides/notesSlide8.xml" Id="Refe8b9a662c241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4D167-5C76-4E26-BCC2-DC154DE3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05034-B564-4502-9F8A-E9288F9A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Global Grouped Checkpoint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2652E-9259-4CF9-B2B5-049FC190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Joint selection of grouping, checkpoint frequency, phase, and peer routes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01B89-DD50-4458-B360-6A63C78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6A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6A0"/>
                </a:solidFill>
                <a:latin typeface="Aptos"/>
                <a:ea typeface="Aptos"/>
                <a:cs typeface="Aptos"/>
              </a:rPr>
              <a:t>From per-job tuning to capacity-aware global policies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8C4E0-2CED-49FB-B015-F24D7190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Simulator-backed research prototype | Final validation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B525E-A4DB-480F-8484-30F81CF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1460084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3D369-DFB2-4044-B9FA-723CFC4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per-job checkpoint tuning is insufficient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509F8-C194-4A49-9517-C1000977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The system cost is shared across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E0B1E-CDF1-4F81-842D-A28EB728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D8975-0CEF-4EC5-910D-4AECB169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Shared network and 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8CD23-6975-4B0B-BBD8-E97EC21F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Checkpoint waves compete for the same budgets.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7FA91-9666-4872-AC87-19EA9D0D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4DAE2-4EDF-4AB5-89F8-951C204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6A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6A0"/>
                </a:solidFill>
                <a:latin typeface="Aptos"/>
                <a:ea typeface="Aptos"/>
                <a:cs typeface="Aptos"/>
              </a:rPr>
              <a:t>Peer availability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5BA41-6CA1-488A-A559-57D249E1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62250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A donor is useful only when it is healthy, available, and inside the same policy group.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9AF7E-747B-4C07-AFD9-8C7C7652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7D41A-0788-40ED-AFB5-98A64F05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Failure 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5E206-E3DD-4BD8-879C-57D492DE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Frequency and phase affect how much work is lost and how long recovery takes.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78254-7ED8-4BAE-AE4B-A9F2E458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optimization target is a global policy that respects capacity and reliability constraints at the same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B4940-25BD-4B79-8B8B-071F0F21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7423848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22B13-AC2C-43A5-A939-76382EA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D1B2E-41E5-46F5-81DF-17B86721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Optimizer and simulator share an explicit policy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D59C0-951B-4102-9818-53556C6D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BC370-A05B-4C5C-9EFE-745357EA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Job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B7674-9D8B-4AEE-A48A-27FA4B13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checkpoint size, capture time, RPO, failure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6BA0A-DAB6-42C9-878D-BD80C94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38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FFB6A-B6B8-45D6-B683-03808765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7EDB2-E203-45D1-AE28-8C79ED6B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A6A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6A0"/>
                </a:solidFill>
                <a:latin typeface="Aptos"/>
                <a:ea typeface="Aptos"/>
                <a:cs typeface="Aptos"/>
              </a:rPr>
              <a:t>Global optimizer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8D2E2-AB5C-4C2C-91BA-3E2859DC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partition jobs, choose route, period, and phase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40160-B980-4AFD-B553-DE6B83E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384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A6A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6A6A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9E187-FE5C-4707-8464-E994690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037F3-2362-478D-BDBA-2BA9A1D9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Event simulator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12C3E-5E3F-4017-9831-D4999C1B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replay policy under contention and failures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651F4-8EE1-4FE6-8B98-AFDB666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simulator validates the selected calendar, donor membership, traffic budget, and recovery accounting.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B73CB-235B-47C0-821B-242774AA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1566080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4B8C8-E524-4F55-BA02-94F21A30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Optimization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B72FA-5C16-4930-BE19-C6EA76D1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Grouping and phasing are decision variables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6C746-99AD-4C91-AA6C-6D56C71C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10653-D4DB-415B-BFE2-4A899217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Assign jobs to groups with a bounded group size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F210B-C5E6-4F00-8351-11E24C53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A6A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6A0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15586-DA63-4511-A52C-3EFF90A1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Choose direct or peer checkpoint placement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4559C-42E0-497D-BD75-BD62D0B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Frequency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A9F82-FB64-48D9-8FD6-132C968A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Choose a period from the allowed catalogue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B385B-7486-414E-A826-6BCD863D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4F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F4F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52DFF-2B81-4067-A5D5-16554663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Shift checkpoint calendars to reduce overlap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DE752-0D9D-4867-9231-99F79FDD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44793-7455-4C73-BC30-367D122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Network, store, donor capacity, durability, and peer 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3BF03-9582-4293-8A24-16B3D3C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191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61B00-5985-4D56-98B0-9EE0CD8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optimizer searches globally, then exports a per-job policy with group_id, route, donors, interval_s, and phase_s.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35A6A-60D4-4B6D-8BB6-25DC5640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1515405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03EE7-DB33-41BD-8265-7411A2B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35799-F49D-4E0B-8432-1A357D69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Three policies, three seeds, one shared simulator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0BE2F-6A0A-441A-AC2D-E0F558F3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238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FA8EC-2E6C-4C17-A601-8716AD1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A · No grouping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9A810-876C-426F-AA87-B0DBA8F4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kpeers=0</a:t>
            </a:r>
          </a:p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phase=0</a:t>
            </a:r>
          </a:p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Direct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62E36-E5BF-4FAD-B3C3-37F476D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56AA8-9CFE-4376-87CA-9630AC2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A6A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6A0"/>
                </a:solidFill>
                <a:latin typeface="Aptos"/>
                <a:ea typeface="Aptos"/>
                <a:cs typeface="Aptos"/>
              </a:rPr>
              <a:t>B · Grouped, no phase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63BBF-C1D7-4F03-A892-6319231C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One group</a:t>
            </a:r>
          </a:p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peer enabled</a:t>
            </a:r>
          </a:p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phase=0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8DF56-C765-4C49-AB6E-21EBFAC1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238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BB270-5351-4490-9068-FDC83605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C · Grouped + phased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0F164-FA20-4C36-A93D-5E41B31B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One group</a:t>
            </a:r>
          </a:p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peer enabled</a:t>
            </a:r>
          </a:p>
          <a:p xmlns:a="http://schemas.openxmlformats.org/drawingml/2006/main">
            <a:pPr>
              <a:defRPr sz="1725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jobB phase=15s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368F9-D8B1-4C02-A263-4AC973C4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019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Metrics: makespan, peer rate, fallback count, own-flush refusals, donor failures, and flush duration.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4C77D-4F52-4884-B017-CC0771D1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7879345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9EF40-BEA1-482C-9FCC-4CE326F4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Measured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2FC86-5658-4CF9-8812-BB53C880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Phasing improves peer use, but contention raises makespan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FE57-5818-45B8-A837-955CDEB3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Mean simulation time (s)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E87CD-3560-4322-99A0-242201F2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No grouping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4E3DF-D95C-4328-B5B5-2729170A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24075"/>
            <a:ext cx="444958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CAD69-8CA4-43A3-9E77-8100A841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212.34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5C0D1-01D0-4355-B7D1-71CAF7D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Grouped phase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542BF-3B97-42D9-8867-CBACD07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4617644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A6A0"/>
          </a:solidFill>
          <a:ln xmlns:a="http://schemas.openxmlformats.org/drawingml/2006/main" w="0">
            <a:solidFill>
              <a:srgbClr val="16A6A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25FE8-7F50-4FE5-AD48-6CF26B16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220.36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2DEA-3D5F-4C14-8314-A1D58F84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Grouped phased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7CCFD-DB09-4723-A304-4AADA4B6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43325"/>
            <a:ext cx="4751127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55552-9F4E-4C2F-9E36-F44D68BD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226.73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C76A6-A351-45C5-99C5-D8205FF9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JobB peer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29C20-C061-4894-ACD5-0ACCE7E8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No grouping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34A94-D32F-4E91-81E9-FEBEEB72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00675"/>
            <a:ext cx="38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C42AC-9909-4C52-A055-30605D0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816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B0699-8DDA-472E-8BBA-D91D197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Grouped phase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99C2F-6E72-4E01-B714-41C72A4E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62625"/>
            <a:ext cx="1191578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6A0"/>
          </a:solidFill>
          <a:ln xmlns:a="http://schemas.openxmlformats.org/drawingml/2006/main" w="0">
            <a:solidFill>
              <a:srgbClr val="16A6A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61AD3-CF58-4AAD-9C36-C1A70560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43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0.139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1DE36-7DEE-4955-8825-4CD452DD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Grouped phased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C0012-1F17-4DFA-96AD-4D6D19C9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24575"/>
            <a:ext cx="166306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3E0BF-CF2F-42FA-97A8-A628EEA2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055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0.194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A143-5197-4D38-98F9-368AE8FB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Mean over seeds 7, 8,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Peer use rises as phasing is introduced.</a:t>
            </a:r>
          </a:p>
          <a:p xmlns:a="http://schemas.openxmlformats.org/drawingml/2006/main">
            <a:pPr>
              <a:defRPr sz="16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The same change also increases contention and completion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E7464-69B6-4E64-AB34-2B488A2C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528278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89CB5-8362-4BF7-8611-4C15AA46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the experiment says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C902-C6E6-4BF6-9346-ADAA2C85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The method creates a controllable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93683-1078-4F12-AB14-5295BB1C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A9D5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A9D5D"/>
                </a:solidFill>
                <a:latin typeface="Aptos"/>
                <a:ea typeface="Aptos"/>
                <a:cs typeface="Aptos"/>
              </a:rPr>
              <a:t>Observed benefit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2158D-39CE-4697-BEB7-5CA0CB2E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Peer rate increased from 0.000 to 0.194.</a:t>
            </a:r>
          </a:p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Fallback decreased from 7.33 to 6.00.</a:t>
            </a:r>
          </a:p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Phasing reduced own_flush versus phase 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45FFF-7A28-4DCD-BCC9-EED31AE5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4F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4F4F"/>
                </a:solidFill>
                <a:latin typeface="Aptos"/>
                <a:ea typeface="Aptos"/>
                <a:cs typeface="Aptos"/>
              </a:rPr>
              <a:t>Observed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8F989-6077-4040-9B2D-E12D69C7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Mean makespan increased from 212.34s to 226.73s.</a:t>
            </a:r>
          </a:p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Donor failures increased to 4.67 on average.</a:t>
            </a:r>
          </a:p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Flush contention remained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B48BA-8596-4343-9296-1F960DB1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1038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0">
            <a:solidFill>
              <a:srgbClr val="FFF4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CBD26-53E7-41BF-914D-252D5980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Grouping and phasing should be selected with a multi-objective policy, not as a universal speedup rule.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E2364-2D50-4B98-BDBE-7D942E7A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700887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9FF6E-498B-4ADA-B742-2D696E6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Conclusion and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F155D-208A-4271-A60C-DF64A11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The optimizer is ready for scale-up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4943C-B6EC-47B5-8B76-96929FE6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C5429-7B8A-49AE-934E-63518C3E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global, group-aware checkpoint policy that jointly selects partition, route, frequency, and phase under shared budgets.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CC930-B349-431E-8C66-65082635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6A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6A0"/>
                </a:solidFill>
                <a:latin typeface="Aptos"/>
                <a:ea typeface="Aptos"/>
                <a:cs typeface="Aptos"/>
              </a:rPr>
              <a:t>Next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6CC11-D95E-4B04-B293-75F2865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Run the same three policies on larger workloads and more seeds. Report both makespan and checkpoint health metrics. Calibrate the runtime surrogate from group sizes 2, 3, 5, and 10.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3A06E-F075-455E-9B30-20A08FB1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28E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28E2B"/>
                </a:solidFill>
                <a:latin typeface="Aptos"/>
                <a:ea typeface="Aptos"/>
                <a:cs typeface="Aptos"/>
              </a:rPr>
              <a:t>Final claim: the method makes the global trade-off explicit and measurable.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E58EC-0274-452E-A534-C5A885C1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1606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1606E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755623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2026-09-20T05:21:46.2590000Z</dcterms:created>
  <dcterms:modified xsi:type="dcterms:W3CDTF">2026-09-20T05:21:46.2590000Z</dcterms:modified>
</coreProperties>
</file>